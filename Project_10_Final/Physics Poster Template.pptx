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1945600" cy="27432000"/>
  <p:notesSz cx="6858000" cy="9144000"/>
  <p:defaultTextStyle>
    <a:defPPr>
      <a:defRPr lang="en-US"/>
    </a:defPPr>
    <a:lvl1pPr marL="0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1pPr>
    <a:lvl2pPr marL="1185062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2pPr>
    <a:lvl3pPr marL="2370125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3pPr>
    <a:lvl4pPr marL="3555187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4pPr>
    <a:lvl5pPr marL="4740250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5pPr>
    <a:lvl6pPr marL="5925312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6pPr>
    <a:lvl7pPr marL="7110374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7pPr>
    <a:lvl8pPr marL="8295437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8pPr>
    <a:lvl9pPr marL="9480499" algn="l" defTabSz="2370125" rtl="0" eaLnBrk="1" latinLnBrk="0" hangingPunct="1">
      <a:defRPr sz="466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25" d="100"/>
          <a:sy n="25" d="100"/>
        </p:scale>
        <p:origin x="27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Chart Title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DC-4320-B4D9-4CB679E13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DC-4320-B4D9-4CB679E133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DC-4320-B4D9-4CB679E13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0023775"/>
        <c:axId val="350015135"/>
      </c:lineChart>
      <c:catAx>
        <c:axId val="3500237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Do your Axis Titles include Units?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015135"/>
        <c:crosses val="autoZero"/>
        <c:auto val="1"/>
        <c:lblAlgn val="ctr"/>
        <c:lblOffset val="100"/>
        <c:noMultiLvlLbl val="0"/>
      </c:catAx>
      <c:valAx>
        <c:axId val="350015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Can you read this? Check your font sizes!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023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6A81C-B77F-4CE1-AC2B-FDEB72373C8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93925" y="1143000"/>
            <a:ext cx="2470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6CFDF-25C3-44EE-9CD3-5EE3E3674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25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1pPr>
    <a:lvl2pPr marL="1185062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2pPr>
    <a:lvl3pPr marL="2370125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3pPr>
    <a:lvl4pPr marL="3555187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4pPr>
    <a:lvl5pPr marL="4740250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5pPr>
    <a:lvl6pPr marL="5925312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6pPr>
    <a:lvl7pPr marL="7110374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7pPr>
    <a:lvl8pPr marL="8295437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8pPr>
    <a:lvl9pPr marL="9480499" algn="l" defTabSz="2370125" rtl="0" eaLnBrk="1" latinLnBrk="0" hangingPunct="1">
      <a:defRPr sz="31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2C7B9C-DA46-4FE0-B590-97F24EE1DB0E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73263" y="692150"/>
            <a:ext cx="2770187" cy="3465513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BYU-Idaho Logo – The university has specific guidelines on university branding, please do not remove or reduce the logo size. It can be moved.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1869-4DDA-510A-9D2B-23417A392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0" y="4489452"/>
            <a:ext cx="16459200" cy="9550400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68E15-97FE-8601-EAC7-66FE8E815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14408152"/>
            <a:ext cx="16459200" cy="6623048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78FEB-ACD5-4049-68BB-C55E0AA9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D1D80-1715-9013-948F-914AF01C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F836-AD78-8BE9-7867-364C3A2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44E2-24A6-132C-5951-AED3BE86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2E034-232D-FE15-0B19-2FE954FC3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87A2C-554A-A5A4-C8F8-E939EC34B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50155-EACA-AF2E-6C76-5B82ED6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8BEF3-9748-13B6-9A36-A72B906F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2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01BF-51C0-B498-6985-9C5E832D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30" y="6838954"/>
            <a:ext cx="18928080" cy="11410948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BF33E-082F-2E78-0506-2A78BD076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7330" y="18357854"/>
            <a:ext cx="18928080" cy="6000748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82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C070B-DFEC-49AE-C8AE-2ED27760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600B-0278-CE1F-D1FA-5D10D5AD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77A44-5484-6F1C-02F7-819570E0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6B4D-D417-9898-6A35-CF134923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DDFB-9FFD-3A9F-699D-7A1FA2D5B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8760" y="7302500"/>
            <a:ext cx="932688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EF58E-B60C-3A93-28A8-FCFEFC5B4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9960" y="7302500"/>
            <a:ext cx="932688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FD311-C8AA-3442-99F5-5B9F9981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8AECD-7FD1-21AE-55D9-4A57D26A6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82A94-EAEF-9F67-B1D4-51419256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1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B824-B507-9D4F-9233-14367DA4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8" y="1460502"/>
            <a:ext cx="18928080" cy="53022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EC7B0-537E-A347-F5E3-B2773C6BE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1619" y="6724652"/>
            <a:ext cx="9284017" cy="329564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72607-1087-ECF9-1198-86D7DBAEC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1619" y="10020300"/>
            <a:ext cx="9284017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2457-5ACE-D029-BF90-BB0D39FE0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109960" y="6724652"/>
            <a:ext cx="9329738" cy="329564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43AB6-BC7D-1529-A3F7-58C7619F5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109960" y="10020300"/>
            <a:ext cx="9329738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3D0F-929B-E7BB-D409-74033187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61E8F-3C72-C3F9-E15E-45E91463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BA1AC-1FAD-48E3-5B16-4F11384B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9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11BB-1930-6EBF-080F-72D7F711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E90E3-5A02-DF20-A01D-E64FFC79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16881-216A-2A6C-F416-4AA74E6F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D47CC-8D95-93F9-9259-17CEEE7A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CE81C-855E-EA35-8F7D-D1CA781D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10901-FE6F-3B75-7460-0F525A88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F34E9-C848-E864-E722-8238BFBD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3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C800-11F9-0C63-3EA0-EA61A8DE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9" y="1828800"/>
            <a:ext cx="7078027" cy="640080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AB6A-DAED-1388-71D8-1B70A1F90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9738" y="3949702"/>
            <a:ext cx="11109960" cy="19494500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D4D62-7D0C-39A6-989D-A084E4D8D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1619" y="8229600"/>
            <a:ext cx="7078027" cy="1524635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1539E-9D31-AEC1-A319-657A2F52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2E0F4-2AED-2012-6A1B-8B29222A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F1688-DAAD-4DBF-2F7A-C7AD199E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7C97-1816-D75B-92D5-5154AD41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9" y="1828800"/>
            <a:ext cx="7078027" cy="640080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C40F26-1D20-7194-CBAA-E0A582431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29738" y="3949702"/>
            <a:ext cx="11109960" cy="19494500"/>
          </a:xfrm>
        </p:spPr>
        <p:txBody>
          <a:bodyPr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4A80B-5A25-E4DA-A09B-495FD5B07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1619" y="8229600"/>
            <a:ext cx="7078027" cy="1524635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23FC6-7FE3-1235-F70E-ECED52E5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EDB36-26B9-6651-2B93-B1AD8455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526E-B4D3-F684-F241-58218468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2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6566-3943-319F-40BE-843FF5A0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23895-C954-8B6B-DD1B-DE4EA72A6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A4817-D65F-0EFF-695C-40577EC4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AC3E6-D51A-E192-8D1F-7AB9A8BB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89F5F-9A00-2D85-1755-DB627FD1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8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34825-432C-2D21-1DFB-2689A5BEE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704820" y="1460500"/>
            <a:ext cx="4732020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8E681-551D-0BEA-7755-EF0C07E51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08760" y="1460500"/>
            <a:ext cx="13921740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53B41-DA40-2AB8-51DF-EFCEDBC1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69E8F-91E5-7049-06A1-0411CFD3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F5C6-1458-9C2B-5F58-0E502EB5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2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27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3DF5B-D2D9-0919-7EF6-43395384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460502"/>
            <a:ext cx="1892808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05C8-4495-4471-A3EF-D5371D1C4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760" y="7302500"/>
            <a:ext cx="1892808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0F995-7EC3-EAAF-F60A-8C7691FDF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08760" y="25425402"/>
            <a:ext cx="493776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2FC19-BB14-4EE8-8378-977D268FD72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6F2EB-FC75-DBCB-B0FA-43B8460E3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69480" y="25425402"/>
            <a:ext cx="740664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587B1-5798-61C6-2F6D-956A997E6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99080" y="25425402"/>
            <a:ext cx="493776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C52E2-DEB0-4DB2-867A-FD844E2B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5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AutoShape 50"/>
          <p:cNvSpPr>
            <a:spLocks noChangeArrowheads="1"/>
          </p:cNvSpPr>
          <p:nvPr/>
        </p:nvSpPr>
        <p:spPr bwMode="auto">
          <a:xfrm>
            <a:off x="11152716" y="4968072"/>
            <a:ext cx="10373784" cy="22137357"/>
          </a:xfrm>
          <a:prstGeom prst="roundRect">
            <a:avLst>
              <a:gd name="adj" fmla="val 7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412"/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376766" y="4946906"/>
            <a:ext cx="10373784" cy="22137357"/>
          </a:xfrm>
          <a:prstGeom prst="roundRect">
            <a:avLst>
              <a:gd name="adj" fmla="val 7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3412"/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594438" y="10719853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Objective</a:t>
            </a: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1429922" y="15782687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Discussion/Conclusions</a:t>
            </a:r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376766" y="347739"/>
            <a:ext cx="21149734" cy="4173183"/>
          </a:xfrm>
          <a:prstGeom prst="roundRect">
            <a:avLst>
              <a:gd name="adj" fmla="val 1087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2438601"/>
            <a:endParaRPr lang="en-US" sz="3412">
              <a:solidFill>
                <a:schemeClr val="bg1"/>
              </a:solidFill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5743744" y="933039"/>
            <a:ext cx="15226986" cy="2952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6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Title to Grab Attention</a:t>
            </a:r>
          </a:p>
          <a:p>
            <a:pPr defTabSz="2438601">
              <a:spcBef>
                <a:spcPct val="50000"/>
              </a:spcBef>
            </a:pPr>
            <a:r>
              <a:rPr lang="en-US" sz="6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PH 999 – Course Title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2438601"/>
            <a:r>
              <a:rPr lang="en-US" sz="3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WHO DID THE STUDY</a:t>
            </a:r>
          </a:p>
        </p:txBody>
      </p:sp>
      <p:sp>
        <p:nvSpPr>
          <p:cNvPr id="2090" name="Text Box 42"/>
          <p:cNvSpPr txBox="1">
            <a:spLocks noChangeArrowheads="1"/>
          </p:cNvSpPr>
          <p:nvPr/>
        </p:nvSpPr>
        <p:spPr bwMode="auto">
          <a:xfrm>
            <a:off x="594438" y="5654008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Background</a:t>
            </a:r>
          </a:p>
        </p:txBody>
      </p:sp>
      <p:sp>
        <p:nvSpPr>
          <p:cNvPr id="2091" name="Text Box 43"/>
          <p:cNvSpPr txBox="1">
            <a:spLocks noChangeArrowheads="1"/>
          </p:cNvSpPr>
          <p:nvPr/>
        </p:nvSpPr>
        <p:spPr bwMode="auto">
          <a:xfrm>
            <a:off x="11429922" y="5654008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Results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11429922" y="6562163"/>
            <a:ext cx="992124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results of your work in a short readable format. Introduce the data, then let the graphs or tables do the heavy lifting.</a:t>
            </a:r>
          </a:p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data clearly in tables and graphs is important. Don’t forget axis labels, titles, legends, and subscripts if they are needed.</a:t>
            </a:r>
          </a:p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just leave the figures by themselves. Reference the figures in your text.</a:t>
            </a: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660DB2BA-0825-538A-6863-9E6EE3CAC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38" y="14822740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Experimental Design &amp; Methods</a:t>
            </a:r>
            <a:endParaRPr lang="en-US" sz="4500" b="1" dirty="0"/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1499B155-7F54-7EEB-B915-68C76E5C1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22" y="16922159"/>
            <a:ext cx="9921240" cy="2188750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wrap="square" lIns="33983" tIns="16991" rIns="33983" bIns="16991">
            <a:sp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results, are they meaningful? 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Did you succeed in your objective?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would you do differently or include if you had more time on 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project?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3995D32D-8AD6-F343-AEFE-39F4E16F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38" y="22458115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Authors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80D33EE-DC4E-4C44-BDE9-693BBCD32F5D}"/>
              </a:ext>
            </a:extLst>
          </p:cNvPr>
          <p:cNvGraphicFramePr/>
          <p:nvPr/>
        </p:nvGraphicFramePr>
        <p:xfrm>
          <a:off x="11429922" y="9996445"/>
          <a:ext cx="9921240" cy="5477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Box 11">
            <a:extLst>
              <a:ext uri="{FF2B5EF4-FFF2-40B4-BE49-F238E27FC236}">
                <a16:creationId xmlns:a16="http://schemas.microsoft.com/office/drawing/2014/main" id="{E12C8687-D648-9632-4ABD-A0C2C42E3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22" y="23282371"/>
            <a:ext cx="9921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438601">
              <a:spcBef>
                <a:spcPct val="50000"/>
              </a:spcBef>
            </a:pPr>
            <a:r>
              <a:rPr lang="en-US" sz="4800" b="1" dirty="0"/>
              <a:t>References</a:t>
            </a:r>
          </a:p>
        </p:txBody>
      </p:sp>
      <p:sp>
        <p:nvSpPr>
          <p:cNvPr id="6" name="Text Box 38">
            <a:extLst>
              <a:ext uri="{FF2B5EF4-FFF2-40B4-BE49-F238E27FC236}">
                <a16:creationId xmlns:a16="http://schemas.microsoft.com/office/drawing/2014/main" id="{1EF732DF-778A-9D2E-FA60-14E01E7B4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22" y="24125155"/>
            <a:ext cx="9921240" cy="896088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wrap="square" lIns="33983" tIns="16991" rIns="33983" bIns="16991">
            <a:spAutoFit/>
          </a:bodyPr>
          <a:lstStyle/>
          <a:p>
            <a:pPr marL="285739" indent="-285739" algn="just">
              <a:buAutoNum type="arabicPeriod"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Cite sources that were used in your work. </a:t>
            </a:r>
          </a:p>
          <a:p>
            <a:pPr marL="285739" indent="-285739" algn="just">
              <a:buAutoNum type="arabicPeriod"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AIP/APS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citation formatting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4EAF73B7-AC2B-8269-8BEC-9B164E6A2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38" y="6562163"/>
            <a:ext cx="992124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main scientific ideas behind the project in simple, clear terms. Save equations and jargon for later.</a:t>
            </a:r>
          </a:p>
          <a:p>
            <a:pPr algn="l" defTabSz="2438601">
              <a:spcBef>
                <a:spcPct val="50000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to ~100–150 words or 1–2 short paragraphs.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B4194979-D452-7395-62BC-B21251F86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38" y="11704871"/>
            <a:ext cx="992124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main goals of the project. What principle(s) are you exploring? How will you determine if your project is a success or a failure?</a:t>
            </a:r>
          </a:p>
          <a:p>
            <a:pPr marL="457200" indent="-457200" algn="l" defTabSz="243860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question:</a:t>
            </a:r>
          </a:p>
          <a:p>
            <a:pPr marL="457200" indent="-457200" algn="l" defTabSz="243860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question(if any):</a:t>
            </a: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9F6993B5-6ED1-E03D-711B-946A2D9E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38" y="15681400"/>
            <a:ext cx="9921240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will you reach the goals? What measurements will you take? Are there relevant Equations? Present this information here, but don’t overwhelm the reader. </a:t>
            </a:r>
          </a:p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 tables, and graphs may be better at conveying information than a wall of text.</a:t>
            </a: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BA53EFE-BFC3-3FA5-F3AF-FE2035D43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4870" y="904757"/>
          <a:ext cx="4170770" cy="305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563018" imgH="3346512" progId="">
                  <p:embed/>
                </p:oleObj>
              </mc:Choice>
              <mc:Fallback>
                <p:oleObj r:id="rId4" imgW="4563018" imgH="3346512" progId="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BA53EFE-BFC3-3FA5-F3AF-FE2035D43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4870" y="904757"/>
                        <a:ext cx="4170770" cy="3059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19">
            <a:extLst>
              <a:ext uri="{FF2B5EF4-FFF2-40B4-BE49-F238E27FC236}">
                <a16:creationId xmlns:a16="http://schemas.microsoft.com/office/drawing/2014/main" id="{C31784C9-9DB5-1D29-8E5A-111E2CAEE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38" y="23075388"/>
            <a:ext cx="9921240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don’t do physics alone! Include a picture of your team. A picture of your team with your project is even better.</a:t>
            </a:r>
          </a:p>
          <a:p>
            <a:pPr algn="l" defTabSz="2438601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We’re proud of our students and want to show of you and your work.</a:t>
            </a:r>
          </a:p>
          <a:p>
            <a:pPr algn="l" defTabSz="2438601">
              <a:spcBef>
                <a:spcPct val="50000"/>
              </a:spcBef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include a subscript with your names and majors below the picture.</a:t>
            </a:r>
          </a:p>
          <a:p>
            <a:pPr algn="l" defTabSz="2438601">
              <a:spcBef>
                <a:spcPct val="50000"/>
              </a:spcBef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361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Brigham Young University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Hill, Joe</dc:creator>
  <cp:lastModifiedBy>Hill, Joe</cp:lastModifiedBy>
  <cp:revision>1</cp:revision>
  <dcterms:created xsi:type="dcterms:W3CDTF">2026-02-04T15:47:29Z</dcterms:created>
  <dcterms:modified xsi:type="dcterms:W3CDTF">2026-02-04T15:50:16Z</dcterms:modified>
</cp:coreProperties>
</file>